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Spectral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Spectral-bold.fntdata"/><Relationship Id="rId10" Type="http://schemas.openxmlformats.org/officeDocument/2006/relationships/slide" Target="slides/slide5.xml"/><Relationship Id="rId21" Type="http://schemas.openxmlformats.org/officeDocument/2006/relationships/font" Target="fonts/Spectral-regular.fntdata"/><Relationship Id="rId13" Type="http://schemas.openxmlformats.org/officeDocument/2006/relationships/slide" Target="slides/slide8.xml"/><Relationship Id="rId24" Type="http://schemas.openxmlformats.org/officeDocument/2006/relationships/font" Target="fonts/Spectral-boldItalic.fntdata"/><Relationship Id="rId12" Type="http://schemas.openxmlformats.org/officeDocument/2006/relationships/slide" Target="slides/slide7.xml"/><Relationship Id="rId23" Type="http://schemas.openxmlformats.org/officeDocument/2006/relationships/font" Target="fonts/Spectral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b0f5ee4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b0f5ee4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0f5ee48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b0f5ee48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0f5ee48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b0f5ee4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0f5ee483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0f5ee48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b355022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b355022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b355022d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b355022d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b355022d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b355022d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b355022d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b355022d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b355022d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b355022d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a0530f8e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a0530f8e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a0530f8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a0530f8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a0530f8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a0530f8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a0530f8e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a0530f8e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a0530f8e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a0530f8e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gif"/><Relationship Id="rId4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27875"/>
            <a:ext cx="5239500" cy="1009800"/>
          </a:xfrm>
          <a:prstGeom prst="rect">
            <a:avLst/>
          </a:prstGeom>
          <a:effectLst>
            <a:outerShdw blurRad="57150" rotWithShape="0" algn="bl" dir="7500000" dist="38100">
              <a:schemeClr val="dk1">
                <a:alpha val="64999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Fitting Models to Data:</a:t>
            </a:r>
            <a:endParaRPr sz="36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177600"/>
            <a:ext cx="8520600" cy="792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What it means to rely on Scipy’s curve_fit package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56" name="Google Shape;56;p13" title="Screenshot 2025-06-26 at 9.35.2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75" y="1896825"/>
            <a:ext cx="8723060" cy="286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04000"/>
            <a:ext cx="8520600" cy="792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First, what 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is </a:t>
            </a:r>
            <a:r>
              <a:rPr i="1"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linear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least squares?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62" name="Google Shape;62;p14" title="Screenshot 2025-06-26 at 9.39.49 AM.png"/>
          <p:cNvPicPr preferRelativeResize="0"/>
          <p:nvPr/>
        </p:nvPicPr>
        <p:blipFill rotWithShape="1">
          <a:blip r:embed="rId3">
            <a:alphaModFix/>
          </a:blip>
          <a:srcRect b="41621" l="0" r="0" t="7645"/>
          <a:stretch/>
        </p:blipFill>
        <p:spPr>
          <a:xfrm>
            <a:off x="260525" y="1321750"/>
            <a:ext cx="4822150" cy="111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Screenshot 2025-06-26 at 9.40.1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5400" y="1220300"/>
            <a:ext cx="4822150" cy="3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00400" y="2663350"/>
            <a:ext cx="3945000" cy="2067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These methods can only apply when the model to fit the data is expected to be a linear combo of parameters, e.g.: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 = mx + b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or</a:t>
            </a:r>
            <a:endParaRPr i="1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 = ax^2 + bx + c (polynomials are linear combos!)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304000"/>
            <a:ext cx="8520600" cy="792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Okay, so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what is </a:t>
            </a:r>
            <a:r>
              <a:rPr i="1"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non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-linear least squares?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70" name="Google Shape;70;p15" title="Screenshot 2025-06-26 at 9.43.3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6675"/>
            <a:ext cx="5620693" cy="37420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5773100" y="996675"/>
            <a:ext cx="3010500" cy="39057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Broader functions can be used to describe the data, e.g.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= a</a:t>
            </a:r>
            <a:r>
              <a:rPr i="1"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e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^x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But such solutions can’t be found analytically; we can only test many parameters until we find something that </a:t>
            </a:r>
            <a:r>
              <a:rPr i="1"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minimizes the distance 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between the data and our models.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304000"/>
            <a:ext cx="8520600" cy="792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Well . . . can we just do that ourselves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311700" y="1006475"/>
            <a:ext cx="8277300" cy="1329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Yes, of course!</a:t>
            </a:r>
            <a:endParaRPr sz="24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But still, curve_fit is right there to do it fast for us; why wouldn’t we use it all the time?</a:t>
            </a:r>
            <a:endParaRPr sz="24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433350" y="2336075"/>
            <a:ext cx="8277300" cy="15894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Well, what if your “models” aren’t callable functions?</a:t>
            </a:r>
            <a:endParaRPr sz="24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What if you have simulation results - discrete datasets of simulated </a:t>
            </a:r>
            <a:r>
              <a:rPr i="1"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x</a:t>
            </a: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and </a:t>
            </a:r>
            <a:r>
              <a:rPr i="1"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</a:t>
            </a: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- and you just want to see which simulation fits your real </a:t>
            </a:r>
            <a:r>
              <a:rPr i="1"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x</a:t>
            </a: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and </a:t>
            </a:r>
            <a:r>
              <a:rPr i="1"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</a:t>
            </a: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?</a:t>
            </a:r>
            <a:endParaRPr sz="24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433350" y="3925475"/>
            <a:ext cx="8277300" cy="8733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This is today’s notebook!</a:t>
            </a:r>
            <a:endParaRPr sz="24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304000"/>
            <a:ext cx="8520600" cy="792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Finally, some background on the science in today’s notebook: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804" y="912550"/>
            <a:ext cx="3318846" cy="38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25" y="912550"/>
            <a:ext cx="3747073" cy="38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311700" y="227875"/>
            <a:ext cx="5239500" cy="586800"/>
          </a:xfrm>
          <a:prstGeom prst="rect">
            <a:avLst/>
          </a:prstGeom>
          <a:effectLst>
            <a:outerShdw blurRad="57150" rotWithShape="0" algn="bl" dir="7500000" dist="38100">
              <a:schemeClr val="dk1">
                <a:alpha val="64999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Models within models</a:t>
            </a:r>
            <a:endParaRPr sz="36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2" name="Google Shape;92;p18" title="Screenshot 2025-06-27 at 9.47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75" y="938550"/>
            <a:ext cx="4788480" cy="36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450" y="1762750"/>
            <a:ext cx="6498375" cy="18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700" y="1663975"/>
            <a:ext cx="688657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subTitle"/>
          </p:nvPr>
        </p:nvSpPr>
        <p:spPr>
          <a:xfrm>
            <a:off x="311700" y="304000"/>
            <a:ext cx="8520600" cy="7926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00" name="Google Shape;100;p19" title="anim_starlight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8" y="1052513"/>
            <a:ext cx="900112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pulsate-anim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163" y="915213"/>
            <a:ext cx="5019675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11700" y="700700"/>
            <a:ext cx="4930500" cy="17340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First 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confirmed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RR Lyrae star was discovered by Williamina Fleming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Cepheid period-luminosity relationship was discovered by Henrietta Leavitt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07" name="Google Shape;107;p20" title="Screenshot 2025-06-27 at 10.14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750" y="700700"/>
            <a:ext cx="3239429" cy="374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642600" y="3469600"/>
            <a:ext cx="4599600" cy="9732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The mass and elemental makeup of stars determine whether they become RR Lyrae, Cepheid Type 1, or Cepheid Type 2</a:t>
            </a:r>
            <a:endParaRPr sz="18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311700" y="425300"/>
            <a:ext cx="8272200" cy="7131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How do you model something periodic?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825" y="1341913"/>
            <a:ext cx="58483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435900" y="3726675"/>
            <a:ext cx="8272200" cy="11208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6639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Spectral"/>
              <a:buAutoNum type="arabicParenR"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Functions that describe periodic things!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OR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6639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Spectral"/>
              <a:buAutoNum type="arabicParenR"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Use the period itself as a simplified representation of the data!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311700" y="425300"/>
            <a:ext cx="8272200" cy="7131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Okay, you’ve modeled your data, and now you have a gazillion Cepheids in a region. What can you do with </a:t>
            </a:r>
            <a:r>
              <a:rPr i="1"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that</a:t>
            </a: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data?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413" y="1138400"/>
            <a:ext cx="6167166" cy="37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 title="Screenshot 2025-06-30 at 11.15.4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550" y="152400"/>
            <a:ext cx="619926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311700" y="425300"/>
            <a:ext cx="2122500" cy="26175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How will you know when you’ve overfit your data?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 title="Screenshot 2025-06-30 at 10.30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75" y="2571750"/>
            <a:ext cx="4121423" cy="245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 title="Screenshot 2025-06-30 at 10.31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75" y="113123"/>
            <a:ext cx="4121423" cy="245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 title="Screenshot 2025-06-30 at 10.31.26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113125"/>
            <a:ext cx="4121423" cy="245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 title="Screenshot 2025-06-30 at 10.34.42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571750"/>
            <a:ext cx="4121423" cy="2458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 title="Screenshot 2025-06-30 at 10.46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00" y="152400"/>
            <a:ext cx="4055602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 title="Screenshot 2025-06-30 at 10.47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701" y="2541825"/>
            <a:ext cx="4055602" cy="241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 title="Screenshot 2025-06-30 at 10.47.3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100" y="2541834"/>
            <a:ext cx="4055602" cy="241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 title="Screenshot 2025-06-30 at 10.48.13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9700" y="152400"/>
            <a:ext cx="4055602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idx="1" type="subTitle"/>
          </p:nvPr>
        </p:nvSpPr>
        <p:spPr>
          <a:xfrm>
            <a:off x="107975" y="206125"/>
            <a:ext cx="8785200" cy="47412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p.polyfit</a:t>
            </a: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- “linear” least squares fit to data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For polynomials (including zero-order AKA lines)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You have to give the order N of the polynomial (an assumption!)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Solves the matrix equation directly to get all coefficients of N-order polynomial, guaranteeing the absolute “best fit” possible to your data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scipy.optimize.curve_fit</a:t>
            </a: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- non-linear least squares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For all functions (e^x, log, etc)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Will not (can not!) solve an equation, will instead minimize the difference between model and data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Basically minimizing Chi-Square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pectral"/>
              <a:buChar char="○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It will have to test many model parameters to come up with a “minimized” solution - it is still, somewhat, a guess!</a:t>
            </a:r>
            <a:endParaRPr sz="19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Can use </a:t>
            </a: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np.linalg.lstsq</a:t>
            </a: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or </a:t>
            </a: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scipy.optimize.least_squares</a:t>
            </a: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 to fit your models directly without relying on other black-box parameters hard-coded into </a:t>
            </a: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polyfit</a:t>
            </a:r>
            <a:r>
              <a:rPr lang="en" sz="19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/</a:t>
            </a:r>
            <a:r>
              <a:rPr lang="en" sz="1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curve_fit</a:t>
            </a:r>
            <a:endParaRPr sz="1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idx="1" type="subTitle"/>
          </p:nvPr>
        </p:nvSpPr>
        <p:spPr>
          <a:xfrm>
            <a:off x="176675" y="268250"/>
            <a:ext cx="7725000" cy="7329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Is there a better way???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4" name="Google Shape;154;p27"/>
          <p:cNvSpPr txBox="1"/>
          <p:nvPr>
            <p:ph idx="1" type="subTitle"/>
          </p:nvPr>
        </p:nvSpPr>
        <p:spPr>
          <a:xfrm>
            <a:off x="292075" y="1112400"/>
            <a:ext cx="8444100" cy="5760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Chi-Square			vs. 			Bayesian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5" name="Google Shape;155;p27"/>
          <p:cNvSpPr txBox="1"/>
          <p:nvPr>
            <p:ph idx="1" type="subTitle"/>
          </p:nvPr>
        </p:nvSpPr>
        <p:spPr>
          <a:xfrm>
            <a:off x="709525" y="1799650"/>
            <a:ext cx="3540900" cy="5760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Related to a probability - the “likelihood”: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6" name="Google Shape;156;p27" title="Screenshot 2025-06-30 at 11.26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375" y="2528050"/>
            <a:ext cx="3067200" cy="4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>
            <p:ph idx="1" type="subTitle"/>
          </p:nvPr>
        </p:nvSpPr>
        <p:spPr>
          <a:xfrm>
            <a:off x="709525" y="3162150"/>
            <a:ext cx="3540900" cy="9801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Minimizing chi-squared is equivalent to maximising likelihood, because the exponential is monotonic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158" name="Google Shape;158;p27"/>
          <p:cNvCxnSpPr/>
          <p:nvPr/>
        </p:nvCxnSpPr>
        <p:spPr>
          <a:xfrm>
            <a:off x="4437925" y="1688400"/>
            <a:ext cx="11100" cy="3101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873375" y="1792850"/>
            <a:ext cx="3540900" cy="5760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Also r</a:t>
            </a:r>
            <a:r>
              <a:rPr lang="en" sz="15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elated to a probability:</a:t>
            </a:r>
            <a:endParaRPr sz="15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0" name="Google Shape;160;p27"/>
          <p:cNvSpPr txBox="1"/>
          <p:nvPr>
            <p:ph idx="1" type="subTitle"/>
          </p:nvPr>
        </p:nvSpPr>
        <p:spPr>
          <a:xfrm>
            <a:off x="4994650" y="3363625"/>
            <a:ext cx="3540900" cy="732900"/>
          </a:xfrm>
          <a:prstGeom prst="rect">
            <a:avLst/>
          </a:prstGeom>
          <a:effectLst>
            <a:outerShdw blurRad="57150" rotWithShape="0" algn="bl" dir="7500000" dist="2857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One of these terms should look familiar!</a:t>
            </a:r>
            <a:endParaRPr sz="15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1" name="Google Shape;161;p27" title="Screenshot 2025-06-30 at 11.31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000" y="2348288"/>
            <a:ext cx="3942176" cy="8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